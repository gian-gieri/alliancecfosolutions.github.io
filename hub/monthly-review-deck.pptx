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Georgia"/>
              </a:defRPr>
            </a:pPr>
            <a:r>
              <a:t>Monthly Financial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9963B"/>
                </a:solidFill>
                <a:latin typeface="Calibri"/>
              </a:defRPr>
            </a:pPr>
            <a:r>
              <a:t>[Client Name]  |  [Month Year]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C9963B"/>
                </a:solidFill>
                <a:latin typeface="Calibri"/>
              </a:defRPr>
            </a:pPr>
            <a:r>
              <a:t>Alliance CFO Solutions  | 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Prepared by Gian Gieri, CPA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C9963B"/>
                </a:solidFill>
                <a:latin typeface="Georgia"/>
              </a:defRPr>
            </a:pPr>
            <a:r>
              <a:t>ALLIANCE CFO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C99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3A5C"/>
                </a:solidFill>
                <a:latin typeface="Georgia"/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69696"/>
                </a:solidFill>
                <a:latin typeface="Calibri"/>
              </a:defRPr>
            </a:pPr>
            <a:r>
              <a:t>Alliance CFO Solutions  |  Confidential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920240" cy="18288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B3A5C"/>
                </a:solidFill>
                <a:latin typeface="Calibri"/>
              </a:defRPr>
            </a:pPr>
            <a:r>
              <a:t>REVENUE</a:t>
            </a:r>
          </a:p>
          <a:p>
            <a:pPr algn="ctr">
              <a:defRPr sz="2400" b="1">
                <a:solidFill>
                  <a:srgbClr val="1B3A5C"/>
                </a:solidFill>
                <a:latin typeface="Georgia"/>
              </a:defRPr>
            </a:pPr>
            <a:r>
              <a:t>$[X]</a:t>
            </a:r>
          </a:p>
          <a:p>
            <a:pPr algn="ctr">
              <a:defRPr sz="900">
                <a:solidFill>
                  <a:srgbClr val="C9963B"/>
                </a:solidFill>
                <a:latin typeface="Calibri"/>
              </a:defRPr>
            </a:pPr>
            <a:r>
              <a:t>[↑/↓] [X]%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1371600"/>
            <a:ext cx="1920240" cy="18288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B3A5C"/>
                </a:solidFill>
                <a:latin typeface="Calibri"/>
              </a:defRPr>
            </a:pPr>
            <a:r>
              <a:t>GROSS MARGIN</a:t>
            </a:r>
          </a:p>
          <a:p>
            <a:pPr algn="ctr">
              <a:defRPr sz="2400" b="1">
                <a:solidFill>
                  <a:srgbClr val="1B3A5C"/>
                </a:solidFill>
                <a:latin typeface="Georgia"/>
              </a:defRPr>
            </a:pPr>
            <a:r>
              <a:t>[X]%</a:t>
            </a:r>
          </a:p>
          <a:p>
            <a:pPr algn="ctr">
              <a:defRPr sz="900">
                <a:solidFill>
                  <a:srgbClr val="C9963B"/>
                </a:solidFill>
                <a:latin typeface="Calibri"/>
              </a:defRPr>
            </a:pPr>
            <a:r>
              <a:t>[↑/↓] [X] pts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371600"/>
            <a:ext cx="1920240" cy="18288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B3A5C"/>
                </a:solidFill>
                <a:latin typeface="Calibri"/>
              </a:defRPr>
            </a:pPr>
            <a:r>
              <a:t>NET INCOME</a:t>
            </a:r>
          </a:p>
          <a:p>
            <a:pPr algn="ctr">
              <a:defRPr sz="2400" b="1">
                <a:solidFill>
                  <a:srgbClr val="1B3A5C"/>
                </a:solidFill>
                <a:latin typeface="Georgia"/>
              </a:defRPr>
            </a:pPr>
            <a:r>
              <a:t>$[X]</a:t>
            </a:r>
          </a:p>
          <a:p>
            <a:pPr algn="ctr">
              <a:defRPr sz="900">
                <a:solidFill>
                  <a:srgbClr val="C9963B"/>
                </a:solidFill>
                <a:latin typeface="Calibri"/>
              </a:defRPr>
            </a:pPr>
            <a:r>
              <a:t>[↑/↓] [X]%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59" y="1371600"/>
            <a:ext cx="1920240" cy="18288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B3A5C"/>
                </a:solidFill>
                <a:latin typeface="Calibri"/>
              </a:defRPr>
            </a:pPr>
            <a:r>
              <a:t>CASH</a:t>
            </a:r>
          </a:p>
          <a:p>
            <a:pPr algn="ctr">
              <a:defRPr sz="2400" b="1">
                <a:solidFill>
                  <a:srgbClr val="1B3A5C"/>
                </a:solidFill>
                <a:latin typeface="Georgia"/>
              </a:defRPr>
            </a:pPr>
            <a:r>
              <a:t>$[X]</a:t>
            </a:r>
          </a:p>
          <a:p>
            <a:pPr algn="ctr">
              <a:defRPr sz="900">
                <a:solidFill>
                  <a:srgbClr val="C9963B"/>
                </a:solidFill>
                <a:latin typeface="Calibri"/>
              </a:defRPr>
            </a:pPr>
            <a:r>
              <a:t>[↑/↓] $[X]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C99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3A5C"/>
                </a:solidFill>
                <a:latin typeface="Georgia"/>
              </a:defRPr>
            </a:pPr>
            <a:r>
              <a:t>Revenue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69696"/>
                </a:solidFill>
                <a:latin typeface="Calibri"/>
              </a:defRPr>
            </a:pPr>
            <a:r>
              <a:t>Alliance CFO Solutions  |  Confidential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7680960" cy="4114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0" y="27432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69696"/>
                </a:solidFill>
                <a:latin typeface="Calibri"/>
              </a:defRPr>
            </a:pPr>
            <a:r>
              <a:t>[6-Month Revenue Chart Placeholder]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9496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B3A5C"/>
                </a:solidFill>
                <a:latin typeface="Calibri"/>
              </a:defRPr>
            </a:pPr>
            <a:r>
              <a:t>Key callouts: [Add observations here]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C99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3A5C"/>
                </a:solidFill>
                <a:latin typeface="Georgia"/>
              </a:defRPr>
            </a:pPr>
            <a:r>
              <a:t>Profit &amp; Loss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69696"/>
                </a:solidFill>
                <a:latin typeface="Calibri"/>
              </a:defRPr>
            </a:pPr>
            <a:r>
              <a:t>Alliance CFO Solutions  |  Confidential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45720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Current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Prior Month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Variance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Prior Year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YoY Variance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  <a:r>
                        <a:t>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  <a:r>
                        <a:t>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  <a:r>
                        <a:t>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  <a:r>
                        <a:t>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  <a:r>
                        <a:t>$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  <a:r>
                        <a:t>COGS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  <a:r>
                        <a:t>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  <a:r>
                        <a:t>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  <a:r>
                        <a:t>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  <a:r>
                        <a:t>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  <a:r>
                        <a:t>$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  <a:r>
                        <a:t>Gross 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  <a:r>
                        <a:t>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  <a:r>
                        <a:t>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  <a:r>
                        <a:t>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  <a:r>
                        <a:t>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  <a:r>
                        <a:t>$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  <a:r>
                        <a:t>Operating Expenses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  <a:r>
                        <a:t>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  <a:r>
                        <a:t>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  <a:r>
                        <a:t>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  <a:r>
                        <a:t>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  <a:r>
                        <a:t>$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  <a:r>
                        <a:t>Net Income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  <a:r>
                        <a:t>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  <a:r>
                        <a:t>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  <a:r>
                        <a:t>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  <a:r>
                        <a:t>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  <a:r>
                        <a:t>$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C99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3A5C"/>
                </a:solidFill>
                <a:latin typeface="Georgia"/>
              </a:defRPr>
            </a:pPr>
            <a:r>
              <a:t>Cash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69696"/>
                </a:solidFill>
                <a:latin typeface="Calibri"/>
              </a:defRPr>
            </a:pPr>
            <a:r>
              <a:t>Alliance CFO Solutions  |  Confidential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1371600" cy="137160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Beginning</a:t>
            </a:r>
          </a:p>
          <a:p>
            <a:pPr algn="ctr">
              <a:defRPr sz="1800">
                <a:solidFill>
                  <a:srgbClr val="FFFFFF"/>
                </a:solidFill>
                <a:latin typeface="Georgia"/>
              </a:defRPr>
            </a:pPr>
            <a:r>
              <a:t>$[X]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2860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C9963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03120" y="1828800"/>
            <a:ext cx="1371600" cy="13716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B3A5C"/>
                </a:solidFill>
                <a:latin typeface="Calibri"/>
              </a:defRPr>
            </a:pPr>
            <a:r>
              <a:t>Operating</a:t>
            </a:r>
          </a:p>
          <a:p>
            <a:pPr algn="ctr">
              <a:defRPr sz="1800">
                <a:solidFill>
                  <a:srgbClr val="1B3A5C"/>
                </a:solidFill>
                <a:latin typeface="Georgia"/>
              </a:defRPr>
            </a:pPr>
            <a:r>
              <a:t>$[X]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22860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C9963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49039" y="1828800"/>
            <a:ext cx="1371600" cy="13716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B3A5C"/>
                </a:solidFill>
                <a:latin typeface="Calibri"/>
              </a:defRPr>
            </a:pPr>
            <a:r>
              <a:t>Investing</a:t>
            </a:r>
          </a:p>
          <a:p>
            <a:pPr algn="ctr">
              <a:defRPr sz="1800">
                <a:solidFill>
                  <a:srgbClr val="1B3A5C"/>
                </a:solidFill>
                <a:latin typeface="Georgia"/>
              </a:defRPr>
            </a:pPr>
            <a:r>
              <a:t>$[X]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22860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C9963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94960" y="1828800"/>
            <a:ext cx="1371600" cy="13716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B3A5C"/>
                </a:solidFill>
                <a:latin typeface="Calibri"/>
              </a:defRPr>
            </a:pPr>
            <a:r>
              <a:t>Financing</a:t>
            </a:r>
          </a:p>
          <a:p>
            <a:pPr algn="ctr">
              <a:defRPr sz="1800">
                <a:solidFill>
                  <a:srgbClr val="1B3A5C"/>
                </a:solidFill>
                <a:latin typeface="Georgia"/>
              </a:defRPr>
            </a:pPr>
            <a:r>
              <a:t>$[X]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22860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C9963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40880" y="1828800"/>
            <a:ext cx="1371600" cy="137160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Ending</a:t>
            </a:r>
          </a:p>
          <a:p>
            <a:pPr algn="ctr">
              <a:defRPr sz="1800">
                <a:solidFill>
                  <a:srgbClr val="FFFFFF"/>
                </a:solidFill>
                <a:latin typeface="Georgia"/>
              </a:defRPr>
            </a:pPr>
            <a:r>
              <a:t>$[X]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B3A5C"/>
                </a:solidFill>
                <a:latin typeface="Calibri"/>
              </a:defRPr>
            </a:pPr>
            <a:r>
              <a:t>3-Month Forward Forecast:</a:t>
            </a:r>
          </a:p>
          <a:p>
            <a:pPr>
              <a:spcAft>
                <a:spcPts val="400"/>
              </a:spcAft>
              <a:defRPr sz="1100">
                <a:solidFill>
                  <a:srgbClr val="1B3A5C"/>
                </a:solidFill>
                <a:latin typeface="Calibri"/>
              </a:defRPr>
            </a:pPr>
            <a:r>
              <a:t>• [Month 1]: $[X]  |  [Month 2]: $[X]  |  [Month 3]: $[X]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C99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3A5C"/>
                </a:solidFill>
                <a:latin typeface="Georgia"/>
              </a:defRPr>
            </a:pPr>
            <a:r>
              <a:t>KPI Scorecard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69696"/>
                </a:solidFill>
                <a:latin typeface="Calibri"/>
              </a:defRPr>
            </a:pPr>
            <a:r>
              <a:t>Alliance CFO Solutions  |  Confidential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522514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KPI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Current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  <a:r>
                        <a:t>[KPI 1]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  <a:r>
                        <a:t>●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  <a:r>
                        <a:t>[KPI 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  <a:r>
                        <a:t>●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  <a:r>
                        <a:t>[KPI 3]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  <a:r>
                        <a:t>●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  <a:r>
                        <a:t>[KPI 4]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  <a:r>
                        <a:t>●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  <a:r>
                        <a:t>[KPI 5]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  <a:r>
                        <a:t>●</a:t>
                      </a:r>
                    </a:p>
                  </a:txBody>
                  <a:tcPr/>
                </a:tc>
              </a:tr>
              <a:tr h="52251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  <a:r>
                        <a:t>[KPI 6]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  <a:r>
                        <a:t>●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>
                <a:solidFill>
                  <a:srgbClr val="1B3A5C"/>
                </a:solidFill>
                <a:latin typeface="Calibri"/>
              </a:defRPr>
            </a:pPr>
            <a:r>
              <a:t>● On Track    ● Needs Attention    ● At Risk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C99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3A5C"/>
                </a:solidFill>
                <a:latin typeface="Georgia"/>
              </a:defRPr>
            </a:pPr>
            <a:r>
              <a:t>Key Observations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69696"/>
                </a:solidFill>
                <a:latin typeface="Calibri"/>
              </a:defRPr>
            </a:pPr>
            <a:r>
              <a:t>Alliance CFO Solutions  | 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B3A5C"/>
                </a:solidFill>
                <a:latin typeface="Calibri"/>
              </a:defRPr>
            </a:pPr>
            <a:r>
              <a:t>• [Observation 1 — narrative insight]</a:t>
            </a:r>
          </a:p>
          <a:p>
            <a:pPr>
              <a:spcAft>
                <a:spcPts val="400"/>
              </a:spcAft>
              <a:defRPr sz="1400">
                <a:solidFill>
                  <a:srgbClr val="1B3A5C"/>
                </a:solidFill>
                <a:latin typeface="Calibri"/>
              </a:defRPr>
            </a:pPr>
            <a:r>
              <a:t>• [Observation 2]</a:t>
            </a:r>
          </a:p>
          <a:p>
            <a:pPr>
              <a:spcAft>
                <a:spcPts val="400"/>
              </a:spcAft>
              <a:defRPr sz="1400">
                <a:solidFill>
                  <a:srgbClr val="1B3A5C"/>
                </a:solidFill>
                <a:latin typeface="Calibri"/>
              </a:defRPr>
            </a:pPr>
            <a:r>
              <a:t>• [Observation 3]</a:t>
            </a:r>
          </a:p>
          <a:p>
            <a:pPr>
              <a:spcAft>
                <a:spcPts val="400"/>
              </a:spcAft>
              <a:defRPr sz="1400">
                <a:solidFill>
                  <a:srgbClr val="1B3A5C"/>
                </a:solidFill>
                <a:latin typeface="Calibri"/>
              </a:defRPr>
            </a:pPr>
            <a:r>
              <a:t>• [Observation 4]</a:t>
            </a:r>
          </a:p>
          <a:p>
            <a:pPr>
              <a:spcAft>
                <a:spcPts val="400"/>
              </a:spcAft>
              <a:defRPr sz="1400">
                <a:solidFill>
                  <a:srgbClr val="1B3A5C"/>
                </a:solidFill>
                <a:latin typeface="Calibri"/>
              </a:defRPr>
            </a:pPr>
            <a:r>
              <a:t>• [Observation 5]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C99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3A5C"/>
                </a:solidFill>
                <a:latin typeface="Georgia"/>
              </a:defRPr>
            </a:pPr>
            <a:r>
              <a:t>Action Items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69696"/>
                </a:solidFill>
                <a:latin typeface="Calibri"/>
              </a:defRPr>
            </a:pPr>
            <a:r>
              <a:t>Alliance CFO Solutions  |  Confidential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68580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Action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Owner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Due Date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  <a:r>
                        <a:t>[Action 1]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  <a:r>
                        <a:t>[Owner]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  <a:r>
                        <a:t>[Date]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  <a:r>
                        <a:t>[Status]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  <a:r>
                        <a:t>[Action 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  <a:r>
                        <a:t>[Owner]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  <a:r>
                        <a:t>[Date]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  <a:r>
                        <a:t>[Status]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  <a:r>
                        <a:t>[Action 3]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  <a:r>
                        <a:t>[Owner]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  <a:r>
                        <a:t>[Date]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  <a:r>
                        <a:t>[Status]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Georgia"/>
              </a:defRPr>
            </a:pPr>
            <a:r>
              <a:t>What questions do you have?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C9963B"/>
                </a:solidFill>
                <a:latin typeface="Calibri"/>
              </a:defRPr>
            </a:pPr>
            <a:r>
              <a:t>Alliance CFO Solutions  | 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9963B"/>
                </a:solidFill>
                <a:latin typeface="Calibri"/>
              </a:defRPr>
            </a:pPr>
            <a:r>
              <a:t>Gian Gieri, CPA  |  gian@alliancecfosolutions.com  |  alliancecfosolutions.com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